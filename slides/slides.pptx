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 + apresentação rápida. Este deck é mais longo: metade conceito (por que PWA), metade código real do dia-01.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app final funcionando no celular do professor, se possível — 20 segundos antes de qualquer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PWA não é uma "linguagem diferente". É a mesma tríade web, com um manifesto e (opcional) um service worker por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se apps de loja usam isso: sim, muitos. Twitter/X Lite, Starbucks e Uber usam PWA em partes do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árvore de pastas real do repositório (dia-01 a dia-04) no VS Code — este slide é o mapa mental antes de abrir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do crachá numa festa. O id é único, dois elementos não podem ter o mesmo.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slide-âncora do curso inteiro. Fica repetindo nos próximos 4 dias. Falar em voz alta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Digitar ao vivo. No console: id errado → guarda null. 'Achou ninguém'.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 essencial — não abrir tipos/escopo. A metáfora resolve por enquanto.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Vocabulário: 'escutador'. O código de dentro não roda na hora — fica armado. Demonstrar com console.log.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antes/depois no navegador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Fica projetado enquanto digitam o primeiro botão junto comigo.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do primeiro botão guiado, Simples e Triplo são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Provocar os erros AO VIVO, um por um. Normalizar o erro desde o dia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um gostinho — não aprofundar hoje. Mostra que amanhã é degrau, não salto.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código JS — é um arquivo de configuração. O navegador lê e sabe como instalar.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Pages resolve o HTTPS de graça — por isso o repositório é a peça central da distribuição.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para decorar a sintaxe do service worker. É a única peça 'fornecida pronta' do curso — vale dizer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Missão 3 é o filtro dos rápidos: exige achar sozinhos o id checkBacon no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em 2 minutos. Pasta dia-01 completa no repositório para quem não terminou.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822960"/>
            <a:ext cx="2286000" cy="3474720"/>
          </a:xfrm>
          <a:prstGeom prst="roundRect">
            <a:avLst>
              <a:gd name="adj" fmla="val 8000"/>
            </a:avLst>
          </a:prstGeom>
          <a:solidFill>
            <a:srgbClr val="141833"/>
          </a:solidFill>
          <a:ln w="25400">
            <a:solidFill>
              <a:srgbClr val="7C5C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400800" y="96012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7C5C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9659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179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service-worker.js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777240"/>
            <a:ext cx="2834640" cy="384048"/>
          </a:xfrm>
          <a:prstGeom prst="rect">
            <a:avLst/>
          </a:prstGeom>
          <a:solidFill>
            <a:srgbClr val="F5EFE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UC08 · JS PARA MOBILE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325880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código de hoje,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explicado do zero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02920" y="3063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PWA, onde começamos, e cada linha do dia-01 na prática.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02920" y="3931920"/>
            <a:ext cx="3840480" cy="457200"/>
          </a:xfrm>
          <a:prstGeom prst="rect">
            <a:avLst/>
          </a:prstGeom>
          <a:solidFill>
            <a:srgbClr val="7C5CB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  ·  Primeiros movimentos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POR QUE MOBILE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vamos chegar até quinta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3990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3444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app de verdade, instalado na tela inicial do SEU celular, com ícone, tela cheia, e funcionando até sem internet.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02920" y="228600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423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2880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que reagem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377440" y="2286000"/>
            <a:ext cx="1737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7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551176" y="228600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51176" y="2423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642616" y="2880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calculado ao vivo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425696" y="2286000"/>
            <a:ext cx="1737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7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99432" y="228600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9432" y="2423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690872" y="2880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app instalável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73952" y="2286000"/>
            <a:ext cx="1737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7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647688" y="228600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47688" y="2423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39128" y="2880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3977640"/>
            <a:ext cx="8138160" cy="777240"/>
          </a:xfrm>
          <a:prstGeom prst="roundRect">
            <a:avLst>
              <a:gd name="adj" fmla="val 11765"/>
            </a:avLst>
          </a:prstGeom>
          <a:solidFill>
            <a:srgbClr val="1B2145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é o Dia 1. </a:t>
            </a:r>
            <a:pPr indent="0" marL="0">
              <a:buNone/>
            </a:pPr>
            <a:r>
              <a:rPr lang="en-US" sz="14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pressa. É o degrau que sustenta os outros três.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POR QUE MOBILE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exatamente um PWA?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= Progressive Web App. Uma PÁGINA DA WEB comum, que ganha três poderes extras: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8288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9992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ícone na tela inicial, abre em tela cheia, sem barra do navegador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73552" y="16002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182880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10712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offline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56432" y="29992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uma cópia dos arquivos e abre mesmo sem internet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44184" y="16002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4" y="1828800"/>
            <a:ext cx="685800" cy="685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81344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 nativo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227064" y="29992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screen, cor de tema, se comporta como um app de loja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" y="4160520"/>
            <a:ext cx="8138160" cy="685800"/>
          </a:xfrm>
          <a:prstGeom prst="roundRect">
            <a:avLst>
              <a:gd name="adj" fmla="val 13333"/>
            </a:avLst>
          </a:prstGeom>
          <a:solidFill>
            <a:srgbClr val="7C5CBF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41605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mágica: </a:t>
            </a:r>
            <a:pPr indent="0" marL="0">
              <a:buNone/>
            </a:pPr>
            <a:r>
              <a:rPr lang="en-US" sz="14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poder desses precisa de linguagem nova. É HTML + CSS + JS que você já está aprendendo.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POR QUE MOBILE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escolhemos PWA, e não outro caminho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331720" cy="713232"/>
          </a:xfrm>
          <a:prstGeom prst="rect">
            <a:avLst/>
          </a:prstGeom>
          <a:solidFill>
            <a:srgbClr val="1B2145"/>
          </a:solidFill>
          <a:ln w="9525">
            <a:solidFill>
              <a:srgbClr val="1B21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32588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325880"/>
            <a:ext cx="4160520" cy="713232"/>
          </a:xfrm>
          <a:prstGeom prst="rect">
            <a:avLst/>
          </a:prstGeom>
          <a:solidFill>
            <a:srgbClr val="1B2145"/>
          </a:solidFill>
          <a:ln w="9525">
            <a:solidFill>
              <a:srgbClr val="1B21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5808" y="13258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exige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95160" y="1325880"/>
            <a:ext cx="1645920" cy="713232"/>
          </a:xfrm>
          <a:prstGeom prst="rect">
            <a:avLst/>
          </a:prstGeom>
          <a:solidFill>
            <a:srgbClr val="1B2145"/>
          </a:solidFill>
          <a:ln w="9525">
            <a:solidFill>
              <a:srgbClr val="1B2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96328" y="132588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 em 4 dias?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039112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039112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Expo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2039112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203911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React e JS ao mesmo tempo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95160" y="2039112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328" y="2039112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52344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752344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.apk (Capacitor)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2752344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5808" y="2752344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terminal, Node e Android Studio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95160" y="2752344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6328" y="2752344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465576"/>
            <a:ext cx="2331720" cy="713232"/>
          </a:xfrm>
          <a:prstGeom prst="rect">
            <a:avLst/>
          </a:prstGeom>
          <a:solidFill>
            <a:srgbClr val="7C5CBF"/>
          </a:solidFill>
          <a:ln w="9525">
            <a:solidFill>
              <a:srgbClr val="E4DC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465576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PWA, nosso caminho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834640" y="3465576"/>
            <a:ext cx="4160520" cy="713232"/>
          </a:xfrm>
          <a:prstGeom prst="rect">
            <a:avLst/>
          </a:prstGeom>
          <a:solidFill>
            <a:srgbClr val="7C5CBF"/>
          </a:solidFill>
          <a:ln w="9525">
            <a:solidFill>
              <a:srgbClr val="E4DC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35808" y="3465576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HTML, CSS e JS que você já tem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95160" y="3465576"/>
            <a:ext cx="1645920" cy="713232"/>
          </a:xfrm>
          <a:prstGeom prst="rect">
            <a:avLst/>
          </a:prstGeom>
          <a:solidFill>
            <a:srgbClr val="7C5CBF"/>
          </a:solidFill>
          <a:ln w="9525">
            <a:solidFill>
              <a:srgbClr val="E4DC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96328" y="346557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4407408"/>
            <a:ext cx="8138160" cy="713232"/>
          </a:xfrm>
          <a:prstGeom prst="roundRect">
            <a:avLst>
              <a:gd name="adj" fmla="val 12821"/>
            </a:avLst>
          </a:prstGeom>
          <a:solidFill>
            <a:srgbClr val="1B2145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407408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é a única opção que soma ao que vocês já sabem, em vez de pedir para aprender tudo de novo.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ONDE COMEÇAMOS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arquivos de um PWA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7C5CB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990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807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856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tela: botões, textos, preços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2377440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7C5CBF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37744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pronto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73552" y="12344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7C5CB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3990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13632" y="13807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56432" y="1856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comportamento, o que você escreve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456432" y="2377440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7C5CBF"/>
          </a:solidFill>
          <a:ln/>
        </p:spPr>
      </p:sp>
      <p:sp>
        <p:nvSpPr>
          <p:cNvPr id="15" name="Text 11"/>
          <p:cNvSpPr/>
          <p:nvPr/>
        </p:nvSpPr>
        <p:spPr>
          <a:xfrm>
            <a:off x="3456432" y="237744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é o foco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44184" y="12344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6E739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39903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84264" y="13807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estilo.css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27064" y="1856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cores e o layout mobile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27064" y="2377440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EDE7D6"/>
          </a:solidFill>
          <a:ln/>
        </p:spPr>
      </p:sp>
      <p:sp>
        <p:nvSpPr>
          <p:cNvPr id="21" name="Text 16"/>
          <p:cNvSpPr/>
          <p:nvPr/>
        </p:nvSpPr>
        <p:spPr>
          <a:xfrm>
            <a:off x="6227064" y="237744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7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pronto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29260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6E739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9067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0723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3547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ao celular como instalar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85800" y="4069080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EDE7D6"/>
          </a:solidFill>
          <a:ln/>
        </p:spPr>
      </p:sp>
      <p:sp>
        <p:nvSpPr>
          <p:cNvPr id="27" name="Text 21"/>
          <p:cNvSpPr/>
          <p:nvPr/>
        </p:nvSpPr>
        <p:spPr>
          <a:xfrm>
            <a:off x="685800" y="406908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7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73552" y="29260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6E739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09067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0723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service-worker.js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456432" y="3547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arquivos para o modo offline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3456432" y="4069080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EDE7D6"/>
          </a:solidFill>
          <a:ln/>
        </p:spPr>
      </p:sp>
      <p:sp>
        <p:nvSpPr>
          <p:cNvPr id="33" name="Text 26"/>
          <p:cNvSpPr/>
          <p:nvPr/>
        </p:nvSpPr>
        <p:spPr>
          <a:xfrm>
            <a:off x="3456432" y="406908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7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4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ONDE COMEÇAMOS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id: o crachá de cada elemento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HTML, cada elemento importante ganha um nome único. É por esse nome que o JavaScript o encontra.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8138160" cy="1691640"/>
          </a:xfrm>
          <a:prstGeom prst="roundRect">
            <a:avLst>
              <a:gd name="adj" fmla="val 5405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719072"/>
            <a:ext cx="773582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id="tamanhoDuplo"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type="radio" name="tamanho" value="6"&gt;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&lt;span&gt;Duplo&lt;/span&gt;  &lt;span&gt;+ R$ 6&lt;/span&gt;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id="escolhaAtual"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&gt;Tamanho: Simples&lt;/p&gt;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352044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5EFE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5204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recorte real do index.html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977640"/>
            <a:ext cx="8138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crachás de hoje:  </a:t>
            </a:r>
            <a:pPr indent="0" marL="0">
              <a:buNone/>
            </a:pPr>
            <a:r>
              <a:rPr lang="en-US" sz="145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tamanhoDuplo</a:t>
            </a:r>
            <a:pPr indent="0" marL="0">
              <a:buNone/>
            </a:pPr>
            <a:r>
              <a:rPr lang="en-US" sz="14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  </a:t>
            </a:r>
            <a:pPr indent="0" marL="0">
              <a:buNone/>
            </a:pPr>
            <a:r>
              <a:rPr lang="en-US" sz="145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escolhaAtual</a:t>
            </a:r>
            <a:pPr indent="0" marL="0">
              <a:buNone/>
            </a:pPr>
            <a:r>
              <a:rPr lang="en-US" sz="14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3977640"/>
            <a:ext cx="8138160" cy="777240"/>
          </a:xfrm>
          <a:prstGeom prst="roundRect">
            <a:avLst>
              <a:gd name="adj" fmla="val 11765"/>
            </a:avLst>
          </a:prstGeom>
          <a:ln w="12700">
            <a:solidFill>
              <a:srgbClr val="7C5C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 RECEITA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receita de tudo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comportamento de todo app é isto, três passos: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2331720" cy="2148840"/>
          </a:xfrm>
          <a:prstGeom prst="roundRect">
            <a:avLst>
              <a:gd name="adj" fmla="val 5957"/>
            </a:avLst>
          </a:prstGeom>
          <a:solidFill>
            <a:srgbClr val="7C5CB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1783080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2960" y="295351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elemento na tela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072384" y="232714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611880" y="1508760"/>
            <a:ext cx="2331720" cy="2148840"/>
          </a:xfrm>
          <a:prstGeom prst="roundRect">
            <a:avLst>
              <a:gd name="adj" fmla="val 5957"/>
            </a:avLst>
          </a:prstGeom>
          <a:solidFill>
            <a:srgbClr val="7C5CB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1783080"/>
            <a:ext cx="585216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514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ESCUTAR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3749040" y="295351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usuário faz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998464" y="232714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6537960" y="1508760"/>
            <a:ext cx="2331720" cy="2148840"/>
          </a:xfrm>
          <a:prstGeom prst="roundRect">
            <a:avLst>
              <a:gd name="adj" fmla="val 5957"/>
            </a:avLst>
          </a:prstGeom>
          <a:solidFill>
            <a:srgbClr val="7C5CB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1783080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2514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6675120" y="295351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mudar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" y="3886200"/>
            <a:ext cx="8138160" cy="685800"/>
          </a:xfrm>
          <a:prstGeom prst="roundRect">
            <a:avLst>
              <a:gd name="adj" fmla="val 13333"/>
            </a:avLst>
          </a:prstGeom>
          <a:solidFill>
            <a:srgbClr val="141833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3886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amanhã, sempre: os mesmos três passos, em qualquer app do mundo.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 RECEITA · PASSO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216152"/>
            <a:ext cx="7735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tamanhoDuplo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ABE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8ABE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'tamanhoDuplo'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39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tamanhoDuplo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caixinha com nome, para guardar o que acharmos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965960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039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23317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página inteira”, onde vamos procurar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008376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81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getElementById(...)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37413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“ache pelo id”, a busca pelo crachá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008376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081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'tamanhoDuplo'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37413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crachá exato, entre aspas, letra por letra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PAUSA RÁPIDA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essa “caixinha”?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13423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é uma caixinha com nome, onde guardamos algo para usar depois.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2011680"/>
            <a:ext cx="8138160" cy="1188720"/>
          </a:xfrm>
          <a:prstGeom prst="roundRect">
            <a:avLst>
              <a:gd name="adj" fmla="val 7692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" y="2130552"/>
            <a:ext cx="77358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guardo e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troco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(nosso padrão hoje)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 guardo, mas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posso trocar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(amanhã, no preço)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3429000"/>
            <a:ext cx="8138160" cy="868680"/>
          </a:xfrm>
          <a:prstGeom prst="roundRect">
            <a:avLst>
              <a:gd name="adj" fmla="val 10526"/>
            </a:avLst>
          </a:prstGeom>
          <a:solidFill>
            <a:srgbClr val="1B2145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4290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as caixinhas guardam </a:t>
            </a:r>
            <a:pPr indent="0" marL="0">
              <a:buNone/>
            </a:pPr>
            <a:r>
              <a:rPr lang="en-US" sz="1450" b="1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da tela</a:t>
            </a:r>
            <a:pPr indent="0" marL="0">
              <a:buNone/>
            </a:pPr>
            <a:r>
              <a:rPr lang="en-US" sz="14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Amanhã vão guardar números e preços.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 RECEITA · PASSO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ESCUTAR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1325880"/>
          </a:xfrm>
          <a:prstGeom prst="roundRect">
            <a:avLst>
              <a:gd name="adj" fmla="val 6897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216152"/>
            <a:ext cx="77358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tamanhoDuplo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ABE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'click'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roda a cada clique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60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tamanhoDuplo.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9352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fica de ouvido em pé: o botão que achamos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26060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660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29352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“adicione um escutador” neste elemento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47872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02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'click'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877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evento esperar: aqui, o toque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3547872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602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() {...}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3877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pacote de código que roda no evento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 RECEITA · PASSO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216152"/>
            <a:ext cx="7735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escolhaAtual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8ABE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'Tamanho: Duplo'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20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escolhaAtual.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3042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elemento de texto que achamos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96596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020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23042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texto escrito dentro dele”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62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2461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recebe: o lado direito entra no lugar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907792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962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'Tamanho: Duplo'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2461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novo texto, entre aspas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1B214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linha que o usuário VÊ: </a:t>
            </a:r>
            <a:pPr indent="0" marL="0">
              <a:buNone/>
            </a:pPr>
            <a:r>
              <a:rPr lang="en-US" sz="1450" b="1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troca na hora do clique.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 RECEITA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receita completa, no dia-01/script.js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5989320" cy="3520440"/>
          </a:xfrm>
          <a:prstGeom prst="roundRect">
            <a:avLst>
              <a:gd name="adj" fmla="val 2597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170432"/>
            <a:ext cx="5586984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ACHAR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tamanhoDuplo = document.getElementById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'tamanhoDuplo'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escolhaAtual = document.getElementById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'escolhaAtual'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ESCUTAR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tamanhoDuplo.addEventListener(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'click'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{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FAZER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escolhaAtual.textContent =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'Tamanho: Duplo'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720840" y="128016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7C5CBF"/>
          </a:solidFill>
          <a:ln/>
        </p:spPr>
      </p:sp>
      <p:sp>
        <p:nvSpPr>
          <p:cNvPr id="7" name="Text 5"/>
          <p:cNvSpPr/>
          <p:nvPr/>
        </p:nvSpPr>
        <p:spPr>
          <a:xfrm>
            <a:off x="6720840" y="1280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20840" y="251460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7C5CBF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514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ESCUTAR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333756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7C5CBF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3337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linhas. Todo o JavaScript do primeiro botão.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 RECEITA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Repare: os três botões são o MESMO código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822960"/>
          </a:xfrm>
          <a:prstGeom prst="roundRect">
            <a:avLst>
              <a:gd name="adj" fmla="val 11111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261872"/>
            <a:ext cx="7735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tamanhoSimples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.addEventListener(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BE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'click'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function ()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escolhaAtual.textContent =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'Tamanho: Simples'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8138160" cy="822960"/>
          </a:xfrm>
          <a:prstGeom prst="roundRect">
            <a:avLst>
              <a:gd name="adj" fmla="val 11111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2221992"/>
            <a:ext cx="7735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tamanhoDuplo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.addEventListener(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BE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'click'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function ()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escolhaAtual.textContent =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'Tamanho: Duplo'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});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8138160" cy="822960"/>
          </a:xfrm>
          <a:prstGeom prst="roundRect">
            <a:avLst>
              <a:gd name="adj" fmla="val 11111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182112"/>
            <a:ext cx="7735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tamanhoTriplo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.addEventListener(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BE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'click'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function ()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escolhaAtual.textContent =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'Tamanho: Triplo'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});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8138160" cy="594360"/>
          </a:xfrm>
          <a:prstGeom prst="roundRect">
            <a:avLst>
              <a:gd name="adj" fmla="val 15385"/>
            </a:avLst>
          </a:prstGeom>
          <a:solidFill>
            <a:srgbClr val="7C5CB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14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mudam duas coisas: o crachá e o texto. A repetição é o treino.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 RECEITA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4 tropeços de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Crachá diferente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getElementById('tamanhoduplo')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maiúsculas importam. Resultado: null.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2801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Esquecer as aspas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600200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getElementById(tamanhoDuplo)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93852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aspas o JS acha que é variável.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5351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do comando errado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27355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getElementByID(...)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getElementById, “d” minúsculo.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862072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95351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textContent escrito errado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27355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 / textContente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6118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dá erro, só não funciona.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erro? Abra o Console (F12). Ele diz a linha. Ler o erro é metade da profissão.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O QUE VEM DEPOIS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Prévia: como o preço vai nascer (dia 2)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8138160" cy="2788920"/>
          </a:xfrm>
          <a:prstGeom prst="roundRect">
            <a:avLst>
              <a:gd name="adj" fmla="val 3279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170432"/>
            <a:ext cx="7735824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atualizarTotal()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precoTotal =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LER  +  DECIDIR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(tamanhoDuplo.checked)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precoTotal = precoTotal +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8ABE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(tamanhoDuplo.value);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MUDAR A TELA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precoTotal.textContent =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'R$ ' + precoTotal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4023360"/>
            <a:ext cx="8138160" cy="777240"/>
          </a:xfrm>
          <a:prstGeom prst="roundRect">
            <a:avLst>
              <a:gd name="adj" fmla="val 11765"/>
            </a:avLst>
          </a:prstGeom>
          <a:solidFill>
            <a:srgbClr val="1418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0233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movimentos novos: </a:t>
            </a:r>
            <a:pPr indent="0" marL="0">
              <a:buNone/>
            </a:pPr>
            <a:r>
              <a:rPr lang="en-US" sz="1450" b="1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</a:t>
            </a:r>
            <a:pPr indent="0" marL="0">
              <a:buNone/>
            </a:pPr>
            <a:r>
              <a:rPr lang="en-US" sz="14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(.checked, Number()) e </a:t>
            </a:r>
            <a:pPr indent="0" marL="0">
              <a:buNone/>
            </a:pPr>
            <a:r>
              <a:rPr lang="en-US" sz="1450" b="1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pPr indent="0" marL="0">
              <a:buNone/>
            </a:pPr>
            <a:r>
              <a:rPr lang="en-US" sz="14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(if/else). O resto é a receita de hoje.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O QUE VEM DEPOIS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Prévia: o crachá do app inteiro (dia 3)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cada botão tem um id, o APP INTEIRO tem um “crachá”: o manifest.json.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8138160" cy="2331720"/>
          </a:xfrm>
          <a:prstGeom prst="roundRect">
            <a:avLst>
              <a:gd name="adj" fmla="val 3922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673352"/>
            <a:ext cx="7735824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"Lanche do Código",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"short_name"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"Meu Lanche",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"start_url"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"./",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"display"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"standalone",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 barra do navegador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"background_color"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"#fff8e8",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"theme_color"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"#17213d",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"icons"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{ "src": "icones/icone-192.png", ... } 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02336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F5EFE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02336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recorte real do dia-03/manifest.json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O QUE VEM DEPOIS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Prévia: como o app chega no celular (dia 3)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60020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6334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publicado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350008" y="20116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587752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00200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79192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679192" y="26334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garante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434840" y="20116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672584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600200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64024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aberto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764024" y="26334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navegador do celular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519672" y="20116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757416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1600200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48856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Instalado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848856" y="26334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 na tela inicial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02920" y="3429000"/>
            <a:ext cx="8138160" cy="777240"/>
          </a:xfrm>
          <a:prstGeom prst="roundRect">
            <a:avLst>
              <a:gd name="adj" fmla="val 11765"/>
            </a:avLst>
          </a:prstGeom>
          <a:solidFill>
            <a:srgbClr val="141833"/>
          </a:solidFill>
          <a:ln/>
        </p:spPr>
      </p:sp>
      <p:sp>
        <p:nvSpPr>
          <p:cNvPr id="24" name="Text 18"/>
          <p:cNvSpPr/>
          <p:nvPr/>
        </p:nvSpPr>
        <p:spPr>
          <a:xfrm>
            <a:off x="777240" y="34290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HTTPS? </a:t>
            </a:r>
            <a:pPr indent="0" marL="0">
              <a:buNone/>
            </a:pPr>
            <a:r>
              <a:rPr lang="en-US" sz="14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exigência de segurança do navegador: sem ele, a opção de instalar nem aparece.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O QUE VEM DEPOIS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Prévia: por que dá para abrir sem internet (dia 4)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12051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service-worker.js guarda uma cópia dos arquivos na primeira visita, como uma mochila.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8138160" cy="1554480"/>
          </a:xfrm>
          <a:prstGeom prst="roundRect">
            <a:avLst>
              <a:gd name="adj" fmla="val 5882"/>
            </a:avLst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" y="1993392"/>
            <a:ext cx="77358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 internet: guarda os arquivos numa “mochila” (cache)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cache.add(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'index.html'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cache.add(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'estilo.css'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...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 internet: usa o que já está na mochila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(respostaGuardada) {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respostaGuardada; }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611880"/>
            <a:ext cx="8138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6118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Pronto: não é um sexto movimento. </a:t>
            </a:r>
            <a:pPr indent="0" marL="0">
              <a:buNone/>
            </a:pPr>
            <a:r>
              <a:rPr lang="en-US" sz="145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arquivo vem pronto; só entendemos a ideia.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3611880"/>
            <a:ext cx="8138160" cy="822960"/>
          </a:xfrm>
          <a:prstGeom prst="roundRect">
            <a:avLst>
              <a:gd name="adj" fmla="val 11111"/>
            </a:avLst>
          </a:prstGeom>
          <a:ln w="12700">
            <a:solidFill>
              <a:srgbClr val="7C5C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HOJE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na massa: sua missão de hoje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1: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os botões Simples e Triplo (mesma receita)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2: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as mensagens: deixe com a sua cara (emoji vale)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3: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faça um adicional (ex.: Bacon) escrever na tela também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971800"/>
            <a:ext cx="8138160" cy="960120"/>
          </a:xfrm>
          <a:prstGeom prst="roundRect">
            <a:avLst>
              <a:gd name="adj" fmla="val 9524"/>
            </a:avLst>
          </a:prstGeom>
          <a:solidFill>
            <a:srgbClr val="7C5CB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97180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Travou? </a:t>
            </a:r>
            <a:pPr indent="0" marL="0">
              <a:buNone/>
            </a:pPr>
            <a:r>
              <a:rPr lang="en-US" sz="14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Leia o console.  2) Confira o crachá letra por letra.  3) Me chame. A pasta dia-01 do repositório tem a solução completa.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Amanhã: o app aprende a LER você, com .checked, Number() e if/else para calcular o preço ao vivo.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leva de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48640" cy="548640"/>
          </a:xfrm>
          <a:prstGeom prst="ellipse">
            <a:avLst/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3624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34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é a escolha certa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5544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 que você já sabe, chega a um app real em 4 dias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194560"/>
            <a:ext cx="548640" cy="548640"/>
          </a:xfrm>
          <a:prstGeom prst="ellipse">
            <a:avLst/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2257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receita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25146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→ ESCUTAR → FAZER, sempre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3154680"/>
            <a:ext cx="548640" cy="548640"/>
          </a:xfrm>
          <a:prstGeom prst="ellipse">
            <a:avLst/>
          </a:prstGeom>
          <a:solidFill>
            <a:srgbClr val="141833"/>
          </a:solidFill>
          <a:ln w="12700">
            <a:solidFill>
              <a:srgbClr val="7C5CB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2826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546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movimentos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34747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 + textContent, addEventListener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4160520"/>
            <a:ext cx="8138160" cy="685800"/>
          </a:xfrm>
          <a:prstGeom prst="roundRect">
            <a:avLst>
              <a:gd name="adj" fmla="val 13333"/>
            </a:avLst>
          </a:prstGeom>
          <a:solidFill>
            <a:srgbClr val="7C5CBF"/>
          </a:solidFill>
          <a:ln/>
        </p:spPr>
      </p:sp>
      <p:sp>
        <p:nvSpPr>
          <p:cNvPr id="17" name="Text 12"/>
          <p:cNvSpPr/>
          <p:nvPr/>
        </p:nvSpPr>
        <p:spPr>
          <a:xfrm>
            <a:off x="777240" y="41605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Amanhã: </a:t>
            </a:r>
            <a:pPr indent="0" marL="0">
              <a:buNone/>
            </a:pPr>
            <a:r>
              <a:rPr lang="en-US" sz="14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aprende a ler você, e o preço passa a existir de verdade.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2026-07-20T10:02:43Z</dcterms:created>
  <dcterms:modified xsi:type="dcterms:W3CDTF">2026-07-20T10:02:43Z</dcterms:modified>
</cp:coreProperties>
</file>