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E0D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967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A4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UC08 · Dia 2 · JavaScript para aplicação mobile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17223B"/>
          </a:solidFill>
          <a:ln w="12700">
            <a:solidFill>
              <a:srgbClr val="1722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Ler escolhas, calcular e atualizar a tela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783080"/>
            <a:ext cx="10881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aluno usa o próprio tema. O exemplo do sanduíche serve como mapa quando alguém travar.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1444752" cy="566928"/>
          </a:xfrm>
          <a:prstGeom prst="roundRect">
            <a:avLst>
              <a:gd name="adj" fmla="val 19355"/>
            </a:avLst>
          </a:prstGeom>
          <a:solidFill>
            <a:srgbClr val="EEF4FF"/>
          </a:solidFill>
          <a:ln w="12700">
            <a:solidFill>
              <a:srgbClr val="C8D8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88950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ACHAR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2075688" y="2926080"/>
            <a:ext cx="10972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94560" y="2743200"/>
            <a:ext cx="1444752" cy="566928"/>
          </a:xfrm>
          <a:prstGeom prst="roundRect">
            <a:avLst>
              <a:gd name="adj" fmla="val 19355"/>
            </a:avLst>
          </a:prstGeom>
          <a:solidFill>
            <a:srgbClr val="EEF7F3"/>
          </a:solidFill>
          <a:ln w="12700">
            <a:solidFill>
              <a:srgbClr val="BBDD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7712" y="288950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ESCUTAR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3675888" y="2926080"/>
            <a:ext cx="10972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94760" y="2743200"/>
            <a:ext cx="1444752" cy="566928"/>
          </a:xfrm>
          <a:prstGeom prst="roundRect">
            <a:avLst>
              <a:gd name="adj" fmla="val 19355"/>
            </a:avLst>
          </a:prstGeom>
          <a:solidFill>
            <a:srgbClr val="EEF4FF"/>
          </a:solidFill>
          <a:ln w="12700">
            <a:solidFill>
              <a:srgbClr val="C8D8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7912" y="288950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5276088" y="2926080"/>
            <a:ext cx="10972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94960" y="2743200"/>
            <a:ext cx="1444752" cy="566928"/>
          </a:xfrm>
          <a:prstGeom prst="roundRect">
            <a:avLst>
              <a:gd name="adj" fmla="val 19355"/>
            </a:avLst>
          </a:prstGeom>
          <a:solidFill>
            <a:srgbClr val="EEF7F3"/>
          </a:solidFill>
          <a:ln w="12700">
            <a:solidFill>
              <a:srgbClr val="BBDD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288950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6876288" y="2926080"/>
            <a:ext cx="10972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95160" y="2743200"/>
            <a:ext cx="1444752" cy="566928"/>
          </a:xfrm>
          <a:prstGeom prst="roundRect">
            <a:avLst>
              <a:gd name="adj" fmla="val 19355"/>
            </a:avLst>
          </a:prstGeom>
          <a:solidFill>
            <a:srgbClr val="EEF4FF"/>
          </a:solidFill>
          <a:ln w="12700">
            <a:solidFill>
              <a:srgbClr val="C8D8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68312" y="288950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CALCULAR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8476488" y="2926080"/>
            <a:ext cx="10972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95360" y="2743200"/>
            <a:ext cx="1444752" cy="566928"/>
          </a:xfrm>
          <a:prstGeom prst="roundRect">
            <a:avLst>
              <a:gd name="adj" fmla="val 19355"/>
            </a:avLst>
          </a:prstGeom>
          <a:solidFill>
            <a:srgbClr val="EEF7F3"/>
          </a:solidFill>
          <a:ln w="12700">
            <a:solidFill>
              <a:srgbClr val="BBDD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68512" y="288950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1051560" y="4069080"/>
            <a:ext cx="10058400" cy="960120"/>
          </a:xfrm>
          <a:prstGeom prst="roundRect">
            <a:avLst>
              <a:gd name="adj" fmla="val 11429"/>
            </a:avLst>
          </a:prstGeom>
          <a:solidFill>
            <a:srgbClr val="EEF7F3"/>
          </a:solidFill>
          <a:ln w="12700">
            <a:solidFill>
              <a:srgbClr val="BBDD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4270248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F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prático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37560" y="4160520"/>
            <a:ext cx="73609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 mexer em uma opção, o projeto deve mudar o resumo e mostrar um resultado. Pode ser preço, pontos, tempo, nível, recomendação ou qualquer cálculo que combine com o tema.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Dia 1 para o Dia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clique já muda texto. Agora o app precisa tomar decisões.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303520" cy="4160520"/>
          </a:xfrm>
          <a:prstGeom prst="roundRect">
            <a:avLst>
              <a:gd name="adj" fmla="val 2637"/>
            </a:avLst>
          </a:prstGeom>
          <a:solidFill>
            <a:srgbClr val="EEF4FF"/>
          </a:solidFill>
          <a:ln w="12700">
            <a:solidFill>
              <a:srgbClr val="C8D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1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914400" y="1984248"/>
            <a:ext cx="4480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tela responde ao clique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48056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achar elemento por id
</a:t>
            </a:r>
            <a:endParaRPr lang="en-US" sz="1220" dirty="0"/>
          </a:p>
          <a:p>
            <a:r>
              <a:rPr lang="en-US" sz="12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escutar click
</a:t>
            </a:r>
            <a:endParaRPr lang="en-US" sz="1220" dirty="0"/>
          </a:p>
          <a:p>
            <a:r>
              <a:rPr lang="en-US" sz="12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trocar texto com textContent
</a:t>
            </a:r>
            <a:endParaRPr lang="en-US" sz="1220" dirty="0"/>
          </a:p>
          <a:p>
            <a:r>
              <a:rPr lang="en-US" sz="12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repetir o padrão para cada botão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932688" y="4389120"/>
            <a:ext cx="4434840" cy="822960"/>
          </a:xfrm>
          <a:prstGeom prst="roundRect">
            <a:avLst>
              <a:gd name="adj" fmla="val 13333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4480560"/>
            <a:ext cx="4215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botao.addEventListener('click', function ()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texto.textContent = 'Tamanho: Duplo';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303520" cy="4160520"/>
          </a:xfrm>
          <a:prstGeom prst="roundRect">
            <a:avLst>
              <a:gd name="adj" fmla="val 2637"/>
            </a:avLst>
          </a:prstGeom>
          <a:solidFill>
            <a:srgbClr val="EEF7F3"/>
          </a:solidFill>
          <a:ln w="12700">
            <a:solidFill>
              <a:srgbClr val="BBDD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6916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2F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2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6583680" y="1984248"/>
            <a:ext cx="46634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tela calcula com base nas escolhas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651760"/>
            <a:ext cx="44805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 value e checked
</a:t>
            </a:r>
            <a:endParaRPr lang="en-US" sz="1220" dirty="0"/>
          </a:p>
          <a:p>
            <a:r>
              <a:rPr lang="en-US" sz="12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if e else if
</a:t>
            </a:r>
            <a:endParaRPr lang="en-US" sz="1220" dirty="0"/>
          </a:p>
          <a:p>
            <a:r>
              <a:rPr lang="en-US" sz="12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escolhas em variáveis
</a:t>
            </a:r>
            <a:endParaRPr lang="en-US" sz="1220" dirty="0"/>
          </a:p>
          <a:p>
            <a:r>
              <a:rPr lang="en-US" sz="12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calcular um resultado
</a:t>
            </a:r>
            <a:endParaRPr lang="en-US" sz="1220" dirty="0"/>
          </a:p>
          <a:p>
            <a:r>
              <a:rPr lang="en-US" sz="12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atualizar o resumo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601968" y="4315968"/>
            <a:ext cx="4434840" cy="987552"/>
          </a:xfrm>
          <a:prstGeom prst="roundRect">
            <a:avLst>
              <a:gd name="adj" fmla="val 11111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4407408"/>
            <a:ext cx="4215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(temBacon.checked)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= total + 4;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textoTotal.textContent = 'Total: R$ ' + total;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regra para qualquer tema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tema muda. O comportamento técnico é o mesmo.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9601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projeto precisa ter estes três tipos de coisa: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474720" cy="3337560"/>
          </a:xfrm>
          <a:prstGeom prst="roundRect">
            <a:avLst>
              <a:gd name="adj" fmla="val 3288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74520"/>
            <a:ext cx="73152" cy="33375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98424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Uma escolha exclusiva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50392" y="2286000"/>
            <a:ext cx="32186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Só uma opção pode valer de cada vez.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Exemplos: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 Básico, Plus ou Premium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Personagem Guerreiro, Mago ou Arqueiro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Ingresso Meia, Inteira ou VIP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Tamanho Pequeno, Médio ou Grande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474720" cy="3337560"/>
          </a:xfrm>
          <a:prstGeom prst="roundRect">
            <a:avLst>
              <a:gd name="adj" fmla="val 3288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874520"/>
            <a:ext cx="73152" cy="3337560"/>
          </a:xfrm>
          <a:prstGeom prst="rect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98424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Opções extras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4553712" y="2286000"/>
            <a:ext cx="32186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usuário pode marcar mais de uma.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Exemplos: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e suporte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Escudo e cura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e embalagem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Bacon e ovo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Acessório e garantia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92440" y="1874520"/>
            <a:ext cx="3474720" cy="3337560"/>
          </a:xfrm>
          <a:prstGeom prst="roundRect">
            <a:avLst>
              <a:gd name="adj" fmla="val 3288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874520"/>
            <a:ext cx="73152" cy="3337560"/>
          </a:xfrm>
          <a:prstGeom prst="rect">
            <a:avLst/>
          </a:prstGeom>
          <a:solidFill>
            <a:srgbClr val="17223B"/>
          </a:solidFill>
          <a:ln w="12700">
            <a:solidFill>
              <a:srgbClr val="172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198424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Um resultado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8257032" y="2286000"/>
            <a:ext cx="32186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Alguma informação muda com as escolhas.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Exemplos: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Preço total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Pontos de poder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 estimado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Nível de risco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Recomendação final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Resumo do pedido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22960" y="5623560"/>
            <a:ext cx="10469880" cy="502920"/>
          </a:xfrm>
          <a:prstGeom prst="roundRect">
            <a:avLst>
              <a:gd name="adj" fmla="val 21818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751576"/>
            <a:ext cx="10058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 para a turma: o tema é livre, mas o JavaScript precisa ler escolhas, decidir alguma coisa e mostrar o resultado.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id, value e checked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Três palavras que parecem parecidas, mas servem para coisas diferentes.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17320"/>
            <a:ext cx="10661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id="planoPremium" type="radio" name="plano" value="Premium"&gt;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id="extraBackup" type="checkbox" value="Backup"&gt;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514600"/>
            <a:ext cx="3429000" cy="2423160"/>
          </a:xfrm>
          <a:prstGeom prst="roundRect">
            <a:avLst>
              <a:gd name="adj" fmla="val 4528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514600"/>
            <a:ext cx="73152" cy="24231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624328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50392" y="2926080"/>
            <a:ext cx="3172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 o nome técnico que o JavaScript usa para achar o elemento.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document.getElementById("planoPremium")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usuário normalmente não vê o id.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389120" y="2514600"/>
            <a:ext cx="3429000" cy="2423160"/>
          </a:xfrm>
          <a:prstGeom prst="roundRect">
            <a:avLst>
              <a:gd name="adj" fmla="val 4528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514600"/>
            <a:ext cx="73152" cy="2423160"/>
          </a:xfrm>
          <a:prstGeom prst="rect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624328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4553712" y="2926080"/>
            <a:ext cx="3172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 a informação que aquela opção representa.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planoPremium.value retorna "Premium"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para dizer qual opção foi escolhida.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092440" y="2514600"/>
            <a:ext cx="3429000" cy="2423160"/>
          </a:xfrm>
          <a:prstGeom prst="roundRect">
            <a:avLst>
              <a:gd name="adj" fmla="val 4528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2514600"/>
            <a:ext cx="73152" cy="2423160"/>
          </a:xfrm>
          <a:prstGeom prst="rect">
            <a:avLst/>
          </a:prstGeom>
          <a:solidFill>
            <a:srgbClr val="17223B"/>
          </a:solidFill>
          <a:ln w="12700">
            <a:solidFill>
              <a:srgbClr val="1722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2624328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checked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8257032" y="2926080"/>
            <a:ext cx="3172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 verdadeiro ou falso. Diz se radio ou checkbox está marcado.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extraBackup.checked retorna true ou false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para decidir se entra no cálculo.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1097280" y="5532120"/>
            <a:ext cx="9966960" cy="594360"/>
          </a:xfrm>
          <a:prstGeom prst="roundRect">
            <a:avLst>
              <a:gd name="adj" fmla="val 18462"/>
            </a:avLst>
          </a:prstGeom>
          <a:solidFill>
            <a:srgbClr val="FFF1F1"/>
          </a:solidFill>
          <a:ln w="12700">
            <a:solidFill>
              <a:srgbClr val="E7BA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5696712"/>
            <a:ext cx="9509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53E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Resumo curto: id acha. value informa. checked confirma se está marcado.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Radio button: quando só uma opção pode valer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radio quando as opções competem entre si.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57800" cy="2514600"/>
          </a:xfrm>
          <a:prstGeom prst="roundRect">
            <a:avLst>
              <a:gd name="adj" fmla="val 4364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17320"/>
            <a:ext cx="50383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id="classeMago" type="radio" name="classe" value="Mago"&gt;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Mago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id="classeGuerreiro" type="radio" name="classe" value="Guerreiro"&gt;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Guerreiro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6355080" y="1325880"/>
            <a:ext cx="5212080" cy="2514600"/>
          </a:xfrm>
          <a:prstGeom prst="roundRect">
            <a:avLst>
              <a:gd name="adj" fmla="val 4364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01968" y="1572768"/>
            <a:ext cx="4663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ponto importante é o name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01968" y="1993392"/>
            <a:ext cx="45262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radios que pertencem ao mesmo grupo usam o mesmo name. Assim o navegador entende que apenas uma opção pode ficar marcada.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6601968" y="3081528"/>
            <a:ext cx="4572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2F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exemplo, Mago e Guerreiro usam name="classe".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749808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Exemplos de uso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636008"/>
            <a:ext cx="102412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de ingresso: meia, inteira, VIP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plano: básico, plus, premium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tamanho: pequeno, médio, grande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classe: mago, guerreiro, arqueiro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dificuldade: fácil, normal, difícil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Checkbox: quando várias opções podem entrar juntas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checkbox quando cada opção é independente.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57800" cy="2514600"/>
          </a:xfrm>
          <a:prstGeom prst="roundRect">
            <a:avLst>
              <a:gd name="adj" fmla="val 4364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17320"/>
            <a:ext cx="50383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id="extraSuporte" type="checkbox" value="Suporte"&gt;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Suporte técnico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id="extraBackup" type="checkbox" value="Backup"&gt;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Backup automático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6355080" y="1325880"/>
            <a:ext cx="5212080" cy="2514600"/>
          </a:xfrm>
          <a:prstGeom prst="roundRect">
            <a:avLst>
              <a:gd name="adj" fmla="val 4364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01968" y="1572768"/>
            <a:ext cx="4663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do checkbox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01968" y="1993392"/>
            <a:ext cx="45262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JavaScript não pergunta qual checkbox venceu. Ele pergunta se cada checkbox está marcado.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6601968" y="2788920"/>
            <a:ext cx="4389120" cy="685800"/>
          </a:xfrm>
          <a:prstGeom prst="roundRect">
            <a:avLst>
              <a:gd name="adj" fmla="val 16000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11696" y="2880360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(extraBackup.checked)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= total + 10;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749808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Exemplos de uso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636008"/>
            <a:ext cx="104241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adicionais de comida: bacon, ovo, queijo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serviços: entrega, garantia, instalação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jogo: escudo, cura, ataque extra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evento: estacionamento, camiseta, certificado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viagem: bagagem, seguro, embarque prioritário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 e change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Hoje vamos usar change para controles de formulário.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074920" cy="2834640"/>
          </a:xfrm>
          <a:prstGeom prst="roundRect">
            <a:avLst>
              <a:gd name="adj" fmla="val 3871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73152" cy="28346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27048"/>
            <a:ext cx="4818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96112" y="1828800"/>
            <a:ext cx="481888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 que o elemento foi clicado.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 bom para botão comum.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menu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fechar aviso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zerar contador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finalizar pedido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074920" cy="2834640"/>
          </a:xfrm>
          <a:prstGeom prst="roundRect">
            <a:avLst>
              <a:gd name="adj" fmla="val 3871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417320"/>
            <a:ext cx="73152" cy="2834640"/>
          </a:xfrm>
          <a:prstGeom prst="rect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527048"/>
            <a:ext cx="4818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519672" y="1828800"/>
            <a:ext cx="481888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 que o valor ou marcação mudou.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 bom para radio, checkbox e select.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trocar plano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marcar adicional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escolher tamanho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alterar quantidade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1051560" y="4617720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4709160"/>
            <a:ext cx="9838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planoPremium.addEventListener('change', function ()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console.log('Plano mudou');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extraBackup.addEventListener('change', function ()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console.log(extraBackup.checked);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1097280" y="5897880"/>
            <a:ext cx="9966960" cy="347472"/>
          </a:xfrm>
          <a:prstGeom prst="roundRect">
            <a:avLst>
              <a:gd name="adj" fmla="val 31579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5971032"/>
            <a:ext cx="95097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não está proibido. change só explica melhor o que está acontecendo em inputs.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Primeiro passo: ler no Console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atualizar a tela, confira se o JavaScript está lendo certo.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943600" cy="4343400"/>
          </a:xfrm>
          <a:prstGeom prst="roundRect">
            <a:avLst>
              <a:gd name="adj" fmla="val 2526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325880"/>
            <a:ext cx="5724144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planoPremium = document.getElementById('planoPremium');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extraBackup = document.getElementById('extraBackup');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planoPremium.addEventListener('change', function ()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console.log(planoPremium.value);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console.log(planoPremium.checked);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extraBackup.addEventListener('change', function ()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console.log(extraBackup.value);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console.log(extraBackup.checked);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40" dirty="0"/>
          </a:p>
        </p:txBody>
      </p:sp>
      <p:sp>
        <p:nvSpPr>
          <p:cNvPr id="6" name="Shape 4"/>
          <p:cNvSpPr/>
          <p:nvPr/>
        </p:nvSpPr>
        <p:spPr>
          <a:xfrm>
            <a:off x="699516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9480" y="1517904"/>
            <a:ext cx="34747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observar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0" y="2011680"/>
            <a:ext cx="361188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deve mostrar o valor escrito no HTML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checked deve mudar entre true e false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aparecer null, o id está errado ou o script carregou antes do HTML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não aparecer nada, o evento não foi disparado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7315200" y="4736592"/>
            <a:ext cx="3474720" cy="438912"/>
          </a:xfrm>
          <a:prstGeom prst="roundRect">
            <a:avLst>
              <a:gd name="adj" fmla="val 25000"/>
            </a:avLst>
          </a:prstGeom>
          <a:solidFill>
            <a:srgbClr val="EEF7F3"/>
          </a:solidFill>
          <a:ln w="12700">
            <a:solidFill>
              <a:srgbClr val="BBDD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16368" y="4864608"/>
            <a:ext cx="30632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F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Primeiro leia. Depois calcule.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Escolha exclusiva com if e else if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uma opção exclui a outra, use uma cadeia de decisão.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325880"/>
            <a:ext cx="49926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precoBase = 0;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(tamanhoSimples.checked)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precoBase = 15;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(tamanhoDuplo.checked)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precoBase = 20;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(tamanhoTriplo.checked)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precoBase = 25;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precoBase = 0;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6263640" y="1234440"/>
            <a:ext cx="5303520" cy="3108960"/>
          </a:xfrm>
          <a:prstGeom prst="roundRect">
            <a:avLst>
              <a:gd name="adj" fmla="val 3529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508760"/>
            <a:ext cx="4023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ler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0" y="1947672"/>
            <a:ext cx="429768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5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Simples estiver marcado, preço é 15
</a:t>
            </a:r>
            <a:endParaRPr lang="en-US" sz="1150" dirty="0"/>
          </a:p>
          <a:p>
            <a:r>
              <a:rPr lang="en-US" sz="115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senão, se Duplo estiver marcado, preço é 20
</a:t>
            </a:r>
            <a:endParaRPr lang="en-US" sz="1150" dirty="0"/>
          </a:p>
          <a:p>
            <a:r>
              <a:rPr lang="en-US" sz="115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senão, se Triplo estiver marcado, preço é 25
</a:t>
            </a:r>
            <a:endParaRPr lang="en-US" sz="1150" dirty="0"/>
          </a:p>
          <a:p>
            <a:r>
              <a:rPr lang="en-US" sz="115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senão, nenhum tamanho foi escolhido ainda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0" y="3822192"/>
            <a:ext cx="42062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F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else if porque só uma dessas opções deve valer por vez.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773168"/>
            <a:ext cx="18288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Outros temas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5102352"/>
            <a:ext cx="102412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planoBásico.checked, mensalidade = 19
</a:t>
            </a:r>
            <a:endParaRPr lang="en-US" sz="1100" dirty="0"/>
          </a:p>
          <a:p>
            <a:r>
              <a:rPr lang="en-US" sz="110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classeMago.checked, poderBase = 30
</a:t>
            </a:r>
            <a:endParaRPr lang="en-US" sz="1100" dirty="0"/>
          </a:p>
          <a:p>
            <a:r>
              <a:rPr lang="en-US" sz="110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ingressoVip.checked, precoBase = 80
</a:t>
            </a:r>
            <a:endParaRPr lang="en-US" sz="1100" dirty="0"/>
          </a:p>
          <a:p>
            <a:r>
              <a:rPr lang="en-US" sz="110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dificuldadeDificil.checked, multiplicador = 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Opções extras com if separados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Checkboxes são independentes. Um não cancela o outro.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325880"/>
            <a:ext cx="499262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extras = 0;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(extraBacon.checked)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extras = extras + 4;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(extraOvo.checked)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extras = extras + 3;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(extraQueijo.checked)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extras = extras + 5;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6263640" y="1234440"/>
            <a:ext cx="5303520" cy="3383280"/>
          </a:xfrm>
          <a:prstGeom prst="roundRect">
            <a:avLst>
              <a:gd name="adj" fmla="val 3243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508760"/>
            <a:ext cx="4663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não usar else if aqui?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2011680"/>
            <a:ext cx="448056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o usuário pode marcar Bacon e Ovo ao mesmo tempo. Cada adicional precisa ter sua própria pergunta.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37960" y="288036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7688" y="297180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certo para checkbox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(...) {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(...) {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(...) { }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823960" y="288036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33688" y="297180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cuidado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(...) {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(...) { 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4773168"/>
            <a:ext cx="18288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simples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120640"/>
            <a:ext cx="93268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F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 usa if e else if. Checkbox usa vários if separados.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Função para calcular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função pode ter uma responsabilidade clara: devolver o resultado.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394960" cy="4800600"/>
          </a:xfrm>
          <a:prstGeom prst="roundRect">
            <a:avLst>
              <a:gd name="adj" fmla="val 2286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234440"/>
            <a:ext cx="5175504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calcularTotal()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total = 0;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(tamanhoSimples.checked)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total + 15;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if (tamanhoDuplo.checked)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total + 20;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if (tamanhoTriplo.checked)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total + 25;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(extraBacon.checked)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total + 4;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total;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10" dirty="0"/>
          </a:p>
        </p:txBody>
      </p:sp>
      <p:sp>
        <p:nvSpPr>
          <p:cNvPr id="6" name="Shape 4"/>
          <p:cNvSpPr/>
          <p:nvPr/>
        </p:nvSpPr>
        <p:spPr>
          <a:xfrm>
            <a:off x="6382512" y="1143000"/>
            <a:ext cx="5074920" cy="4800600"/>
          </a:xfrm>
          <a:prstGeom prst="roundRect">
            <a:avLst>
              <a:gd name="adj" fmla="val 2286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417320"/>
            <a:ext cx="4389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acontece dentro dela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93408" y="1865376"/>
            <a:ext cx="42976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5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começa com total zero
</a:t>
            </a:r>
            <a:endParaRPr lang="en-US" sz="1150" dirty="0"/>
          </a:p>
          <a:p>
            <a:r>
              <a:rPr lang="en-US" sz="115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 a escolha principal
</a:t>
            </a:r>
            <a:endParaRPr lang="en-US" sz="1150" dirty="0"/>
          </a:p>
          <a:p>
            <a:r>
              <a:rPr lang="en-US" sz="115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soma extras se estiverem marcados
</a:t>
            </a:r>
            <a:endParaRPr lang="en-US" sz="1150" dirty="0"/>
          </a:p>
          <a:p>
            <a:r>
              <a:rPr lang="en-US" sz="115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devolve o valor final com return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75120" y="3566160"/>
            <a:ext cx="4251960" cy="1097280"/>
          </a:xfrm>
          <a:prstGeom prst="roundRect">
            <a:avLst>
              <a:gd name="adj" fmla="val 10000"/>
            </a:avLst>
          </a:prstGeom>
          <a:solidFill>
            <a:srgbClr val="EEF7F3"/>
          </a:solidFill>
          <a:ln w="12700">
            <a:solidFill>
              <a:srgbClr val="BBDD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3749040"/>
            <a:ext cx="36576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2F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 importante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6903720" y="4041648"/>
            <a:ext cx="36576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Calcular não é a mesma coisa que mostrar. A função calcula e retorna. Outra parte do código mostra na tela.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Função para atualizar a tela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 de calcular, mostre o estado atual para o usuário.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852160" cy="4800600"/>
          </a:xfrm>
          <a:prstGeom prst="roundRect">
            <a:avLst>
              <a:gd name="adj" fmla="val 2286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234440"/>
            <a:ext cx="5632704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atualizarTela()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total = calcularTotal();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(tamanhoSimples.checked)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textoTamanho.textContent = 'Tamanho: Simples';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if (tamanhoDuplo.checked)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textoTamanho.textContent = 'Tamanho: Duplo';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if (tamanhoTriplo.checked)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textoTamanho.textContent = 'Tamanho: Triplo';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textoTamanho.textContent = 'Tamanho: nenhum';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textoTotal.textContent = 'Total: R$ ' + total.toFixed(2);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6903720" y="1143000"/>
            <a:ext cx="4526280" cy="4800600"/>
          </a:xfrm>
          <a:prstGeom prst="roundRect">
            <a:avLst>
              <a:gd name="adj" fmla="val 2424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isso ajuda?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23760" y="1865376"/>
            <a:ext cx="38862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evento chama a mesma função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resumo fica sempre atualizado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código não fica espalhado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fica mais fácil corrigir erro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amanhã fica mais fácil instalar como app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7269480" y="4224528"/>
            <a:ext cx="3566160" cy="658368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 w="12700">
            <a:solidFill>
              <a:srgbClr val="C8D8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34072" y="4389120"/>
            <a:ext cx="32461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 simples: atualizarTela. A função diz exatamente o que faz.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Ligando tudo com change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qualquer opção mudar, recalculamos e atualizamos.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760720" cy="2926080"/>
          </a:xfrm>
          <a:prstGeom prst="roundRect">
            <a:avLst>
              <a:gd name="adj" fmla="val 3750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325880"/>
            <a:ext cx="55412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tamanhoSimples.addEventListener('change', atualizarTela);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tamanhoDuplo.addEventListener('change', atualizarTela);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tamanhoTriplo.addEventListener('change', atualizarTela);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extraBacon.addEventListener('change', atualizarTela);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extraOvo.addEventListener('change', atualizarTela);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extraQueijo.addEventListener('change', atualizarTela);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atualizarTela();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6812280" y="1234440"/>
            <a:ext cx="4617720" cy="2926080"/>
          </a:xfrm>
          <a:prstGeom prst="roundRect">
            <a:avLst>
              <a:gd name="adj" fmla="val 3750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0" y="1508760"/>
            <a:ext cx="3657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esta parte faz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0" y="1947672"/>
            <a:ext cx="36118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5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input chama a mesma atualização
</a:t>
            </a:r>
            <a:endParaRPr lang="en-US" sz="1150" dirty="0"/>
          </a:p>
          <a:p>
            <a:r>
              <a:rPr lang="en-US" sz="115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precisa repetir todo o cálculo em cada evento
</a:t>
            </a:r>
            <a:endParaRPr lang="en-US" sz="1150" dirty="0"/>
          </a:p>
          <a:p>
            <a:r>
              <a:rPr lang="en-US" sz="115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última linha mostra o estado inicial da tela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60120" y="4663440"/>
            <a:ext cx="10149840" cy="749808"/>
          </a:xfrm>
          <a:prstGeom prst="roundRect">
            <a:avLst>
              <a:gd name="adj" fmla="val 14634"/>
            </a:avLst>
          </a:prstGeom>
          <a:solidFill>
            <a:srgbClr val="EEF7F3"/>
          </a:solidFill>
          <a:ln w="12700">
            <a:solidFill>
              <a:srgbClr val="BBDD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4736592"/>
            <a:ext cx="347472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F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 é a ideia central de hoje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88720" y="5001768"/>
            <a:ext cx="97840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usuário muda uma escolha. O app recalcula tudo. A tela mostra o novo resultado.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1: sanduíche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é só o projeto de referência. A lógica serve para outros temas.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120640" cy="4892040"/>
          </a:xfrm>
          <a:prstGeom prst="roundRect">
            <a:avLst>
              <a:gd name="adj" fmla="val 2243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234440"/>
            <a:ext cx="4901184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total = 0;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(simples.checked)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= total + 15;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(duplo.checked)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= total + 20;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(triplo.checked)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= total + 25;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(bacon.checked)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= total + 4;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(ovo.checked)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= total + 3;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textoTotal.textContent = 'Total: R$ ' + total.toFixed(2);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6263640" y="1143000"/>
            <a:ext cx="5120640" cy="4892040"/>
          </a:xfrm>
          <a:prstGeom prst="roundRect">
            <a:avLst>
              <a:gd name="adj" fmla="val 2243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417320"/>
            <a:ext cx="4114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adaptar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0" y="1865376"/>
            <a:ext cx="393192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3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troque os ids pelos ids do seu HTML
</a:t>
            </a:r>
            <a:endParaRPr lang="en-US" sz="1130" dirty="0"/>
          </a:p>
          <a:p>
            <a:r>
              <a:rPr lang="en-US" sz="113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troque os nomes exibidos no resumo
</a:t>
            </a:r>
            <a:endParaRPr lang="en-US" sz="1130" dirty="0"/>
          </a:p>
          <a:p>
            <a:r>
              <a:rPr lang="en-US" sz="113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troque os valores do cálculo
</a:t>
            </a:r>
            <a:endParaRPr lang="en-US" sz="1130" dirty="0"/>
          </a:p>
          <a:p>
            <a:r>
              <a:rPr lang="en-US" sz="113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mantenha a lógica: escolha principal mais extras
</a:t>
            </a:r>
            <a:endParaRPr lang="en-US" sz="1130" dirty="0"/>
          </a:p>
          <a:p>
            <a:r>
              <a:rPr lang="en-US" sz="113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 uma opção por vez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629400" y="42976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1F1"/>
          </a:solidFill>
          <a:ln w="12700">
            <a:solidFill>
              <a:srgbClr val="E7B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4462272"/>
            <a:ext cx="3657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A53E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copie sem entender. Se o seu tema não é lanche, o código precisa falar a língua do seu tema.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2: personagem de jogo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Mesmo padrão, outro tema.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303520" cy="4892040"/>
          </a:xfrm>
          <a:prstGeom prst="roundRect">
            <a:avLst>
              <a:gd name="adj" fmla="val 2243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234440"/>
            <a:ext cx="5084064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poder = 0;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(classeMago.checked)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poder = poder + 30;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(classeGuerreiro.checked)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poder = poder + 40;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(classeArqueiro.checked)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poder = poder + 35;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(habilidadeCura.checked)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poder = poder + 8;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(habilidadeEscudo.checked)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poder = poder + 12;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textoPoder.textContent = 'Poder total: ' + poder;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6355080" y="1143000"/>
            <a:ext cx="5074920" cy="4892040"/>
          </a:xfrm>
          <a:prstGeom prst="roundRect">
            <a:avLst>
              <a:gd name="adj" fmla="val 2243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0" y="1417320"/>
            <a:ext cx="4297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Elementos possíveis no HTML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0" y="1865376"/>
            <a:ext cx="393192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3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radio: Mago, Guerreiro, Arqueiro
</a:t>
            </a:r>
            <a:endParaRPr lang="en-US" sz="1130" dirty="0"/>
          </a:p>
          <a:p>
            <a:r>
              <a:rPr lang="en-US" sz="113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checkbox: Cura, Escudo, Ataque extra
</a:t>
            </a:r>
            <a:endParaRPr lang="en-US" sz="1130" dirty="0"/>
          </a:p>
          <a:p>
            <a:r>
              <a:rPr lang="en-US" sz="113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resumo: classe escolhida
</a:t>
            </a:r>
            <a:endParaRPr lang="en-US" sz="1130" dirty="0"/>
          </a:p>
          <a:p>
            <a:r>
              <a:rPr lang="en-US" sz="113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poder total
</a:t>
            </a:r>
            <a:endParaRPr lang="en-US" sz="1130" dirty="0"/>
          </a:p>
          <a:p>
            <a:r>
              <a:rPr lang="en-US" sz="113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desafio: mostrar uma recomendação se o poder passar de 50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675120" y="4389120"/>
            <a:ext cx="3840480" cy="640080"/>
          </a:xfrm>
          <a:prstGeom prst="roundRect">
            <a:avLst>
              <a:gd name="adj" fmla="val 17143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4848" y="4480560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(poder &gt;= 50)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textoRecomendacao.textContent = 'Pronto para batalha';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3: plano de assinatura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um exemplo para mostrar que o tema é livre.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303520" cy="4892040"/>
          </a:xfrm>
          <a:prstGeom prst="roundRect">
            <a:avLst>
              <a:gd name="adj" fmla="val 2243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234440"/>
            <a:ext cx="5084064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mensalidade = 0;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(planoBasico.checked)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mensalidade = mensalidade + 19;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(planoPlus.checked)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mensalidade = mensalidade + 29;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(planoPremium.checked)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mensalidade = mensalidade + 49;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(extraBackup.checked)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mensalidade = mensalidade + 10;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(extraSuporte.checked)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mensalidade = mensalidade + 15;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textoMensalidade.textContent = 'Mensalidade: R$ ' + mensalidade.toFixed(2);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355080" y="1143000"/>
            <a:ext cx="5074920" cy="4892040"/>
          </a:xfrm>
          <a:prstGeom prst="roundRect">
            <a:avLst>
              <a:gd name="adj" fmla="val 2243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0" y="1417320"/>
            <a:ext cx="4114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Outras variações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0" y="1865376"/>
            <a:ext cx="38404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3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academia: plano mensal, trimestral, anual
</a:t>
            </a:r>
            <a:endParaRPr lang="en-US" sz="1130" dirty="0"/>
          </a:p>
          <a:p>
            <a:r>
              <a:rPr lang="en-US" sz="113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evento: meia, inteira, VIP
</a:t>
            </a:r>
            <a:endParaRPr lang="en-US" sz="1130" dirty="0"/>
          </a:p>
          <a:p>
            <a:r>
              <a:rPr lang="en-US" sz="113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transporte: ônibus, carro, avião
</a:t>
            </a:r>
            <a:endParaRPr lang="en-US" sz="1130" dirty="0"/>
          </a:p>
          <a:p>
            <a:r>
              <a:rPr lang="en-US" sz="113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loja: produto pequeno, médio, grande
</a:t>
            </a:r>
            <a:endParaRPr lang="en-US" sz="1130" dirty="0"/>
          </a:p>
          <a:p>
            <a:r>
              <a:rPr lang="en-US" sz="113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curso: básico, intermediário, avançado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629400" y="40233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EEF7F3"/>
          </a:solidFill>
          <a:ln w="12700">
            <a:solidFill>
              <a:srgbClr val="BBDD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4206240"/>
            <a:ext cx="27432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F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Mesmo desenho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12280" y="4462272"/>
            <a:ext cx="36118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escolha principal, extras independentes e um resultado final.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ordem recomendada do arquivo script.js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Organização simples para não virar bagunça.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623560" cy="4892040"/>
          </a:xfrm>
          <a:prstGeom prst="roundRect">
            <a:avLst>
              <a:gd name="adj" fmla="val 2243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234440"/>
            <a:ext cx="5404104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ELEMENTOS DO HTML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planoBasico = document.getElementById('planoBasico');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extraBackup = document.getElementById('extraBackup');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textoResultado = document.getElementById('textoResultado');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FUNÇÕES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calcularResultado()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calcula e retorna o valor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atualizarTela()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muda os textos da página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EVENTOS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planoBasico.addEventListener('change', atualizarTela);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extraBackup.addEventListener('change', atualizarTela);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PRIMEIRA EXIBIÇÃO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atualizarTela();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675120" y="1143000"/>
            <a:ext cx="4663440" cy="4892040"/>
          </a:xfrm>
          <a:prstGeom prst="roundRect">
            <a:avLst>
              <a:gd name="adj" fmla="val 2353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1417320"/>
            <a:ext cx="3931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separar assim?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95160" y="1865376"/>
            <a:ext cx="370332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fica fácil achar onde cada coisa está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repetir getElementById em vários lugares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 cálculo estiver errado, você sabe onde procurar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 tela não mudar, você sabe onde procurar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 continuar o projeto amanhã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995160" y="4681728"/>
            <a:ext cx="3749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2F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arquivo não precisa ser curto. Ele precisa ser legível.</a:t>
            </a:r>
            <a:endParaRPr lang="en-US" sz="11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Erros comuns do Dia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quebrar, procure primeiro nestes pontos.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383280" cy="475488"/>
          </a:xfrm>
          <a:prstGeom prst="rect">
            <a:avLst/>
          </a:prstGeom>
          <a:solidFill>
            <a:srgbClr val="17223B"/>
          </a:solidFill>
          <a:ln w="8890">
            <a:solidFill>
              <a:srgbClr val="E0D7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9080" y="1234440"/>
            <a:ext cx="7452360" cy="475488"/>
          </a:xfrm>
          <a:prstGeom prst="rect">
            <a:avLst/>
          </a:prstGeom>
          <a:solidFill>
            <a:srgbClr val="17223B"/>
          </a:solidFill>
          <a:ln w="8890">
            <a:solidFill>
              <a:srgbClr val="E0D7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80744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Sintoma</a:t>
            </a:r>
            <a:endParaRPr lang="en-US" sz="970" dirty="0"/>
          </a:p>
        </p:txBody>
      </p:sp>
      <p:sp>
        <p:nvSpPr>
          <p:cNvPr id="7" name="Text 5"/>
          <p:cNvSpPr/>
          <p:nvPr/>
        </p:nvSpPr>
        <p:spPr>
          <a:xfrm>
            <a:off x="4142232" y="1380744"/>
            <a:ext cx="7306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Primeiro lugar para olhar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3383280" cy="475488"/>
          </a:xfrm>
          <a:prstGeom prst="rect">
            <a:avLst/>
          </a:prstGeom>
          <a:solidFill>
            <a:srgbClr val="FFFDF8"/>
          </a:solidFill>
          <a:ln w="8890">
            <a:solidFill>
              <a:srgbClr val="E0D7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9080" y="1709928"/>
            <a:ext cx="7452360" cy="475488"/>
          </a:xfrm>
          <a:prstGeom prst="rect">
            <a:avLst/>
          </a:prstGeom>
          <a:solidFill>
            <a:srgbClr val="FFFDF8"/>
          </a:solidFill>
          <a:ln w="8890">
            <a:solidFill>
              <a:srgbClr val="E0D7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856232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Aparece null no Console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4142232" y="1856232"/>
            <a:ext cx="7306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diferente no HTML e no JavaScript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685800" y="2185416"/>
            <a:ext cx="3383280" cy="475488"/>
          </a:xfrm>
          <a:prstGeom prst="rect">
            <a:avLst/>
          </a:prstGeom>
          <a:solidFill>
            <a:srgbClr val="FFFDF8"/>
          </a:solidFill>
          <a:ln w="8890">
            <a:solidFill>
              <a:srgbClr val="E0D7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2185416"/>
            <a:ext cx="7452360" cy="475488"/>
          </a:xfrm>
          <a:prstGeom prst="rect">
            <a:avLst/>
          </a:prstGeom>
          <a:solidFill>
            <a:srgbClr val="FFFDF8"/>
          </a:solidFill>
          <a:ln w="8890">
            <a:solidFill>
              <a:srgbClr val="E0D7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331720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total fica sempre zero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4142232" y="2331720"/>
            <a:ext cx="7306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input não está marcado ou o if não está sendo chamado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85800" y="2660904"/>
            <a:ext cx="3383280" cy="475488"/>
          </a:xfrm>
          <a:prstGeom prst="rect">
            <a:avLst/>
          </a:prstGeom>
          <a:solidFill>
            <a:srgbClr val="FFFDF8"/>
          </a:solidFill>
          <a:ln w="8890">
            <a:solidFill>
              <a:srgbClr val="E0D7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69080" y="2660904"/>
            <a:ext cx="7452360" cy="475488"/>
          </a:xfrm>
          <a:prstGeom prst="rect">
            <a:avLst/>
          </a:prstGeom>
          <a:solidFill>
            <a:srgbClr val="FFFDF8"/>
          </a:solidFill>
          <a:ln w="8890">
            <a:solidFill>
              <a:srgbClr val="E0D7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807208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Só uma checkbox conta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4142232" y="2807208"/>
            <a:ext cx="7306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você usou else if onde precisava de if separado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85800" y="3136392"/>
            <a:ext cx="3383280" cy="475488"/>
          </a:xfrm>
          <a:prstGeom prst="rect">
            <a:avLst/>
          </a:prstGeom>
          <a:solidFill>
            <a:srgbClr val="FFFDF8"/>
          </a:solidFill>
          <a:ln w="8890">
            <a:solidFill>
              <a:srgbClr val="E0D7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9080" y="3136392"/>
            <a:ext cx="7452360" cy="475488"/>
          </a:xfrm>
          <a:prstGeom prst="rect">
            <a:avLst/>
          </a:prstGeom>
          <a:solidFill>
            <a:srgbClr val="FFFDF8"/>
          </a:solidFill>
          <a:ln w="8890">
            <a:solidFill>
              <a:srgbClr val="E0D7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282696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número junta errado com texto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4142232" y="3282696"/>
            <a:ext cx="7306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confira se está somando número com número antes de montar a frase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685800" y="3611880"/>
            <a:ext cx="3383280" cy="475488"/>
          </a:xfrm>
          <a:prstGeom prst="rect">
            <a:avLst/>
          </a:prstGeom>
          <a:solidFill>
            <a:srgbClr val="FFFDF8"/>
          </a:solidFill>
          <a:ln w="8890">
            <a:solidFill>
              <a:srgbClr val="E0D7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9080" y="3611880"/>
            <a:ext cx="7452360" cy="475488"/>
          </a:xfrm>
          <a:prstGeom prst="rect">
            <a:avLst/>
          </a:prstGeom>
          <a:solidFill>
            <a:srgbClr val="FFFDF8"/>
          </a:solidFill>
          <a:ln w="8890">
            <a:solidFill>
              <a:srgbClr val="E0D7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58184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total não muda ao clicar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4142232" y="3758184"/>
            <a:ext cx="7306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faltou addEventListener ou você usou o elemento errado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685800" y="4087368"/>
            <a:ext cx="3383280" cy="475488"/>
          </a:xfrm>
          <a:prstGeom prst="rect">
            <a:avLst/>
          </a:prstGeom>
          <a:solidFill>
            <a:srgbClr val="FFFDF8"/>
          </a:solidFill>
          <a:ln w="8890">
            <a:solidFill>
              <a:srgbClr val="E0D7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9080" y="4087368"/>
            <a:ext cx="7452360" cy="475488"/>
          </a:xfrm>
          <a:prstGeom prst="rect">
            <a:avLst/>
          </a:prstGeom>
          <a:solidFill>
            <a:srgbClr val="FFFDF8"/>
          </a:solidFill>
          <a:ln w="8890">
            <a:solidFill>
              <a:srgbClr val="E0D7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4233672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valor aparece com muitas casas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4142232" y="4233672"/>
            <a:ext cx="7306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total.toFixed(2) para dinheiro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85800" y="4562856"/>
            <a:ext cx="3383280" cy="475488"/>
          </a:xfrm>
          <a:prstGeom prst="rect">
            <a:avLst/>
          </a:prstGeom>
          <a:solidFill>
            <a:srgbClr val="FFFDF8"/>
          </a:solidFill>
          <a:ln w="8890">
            <a:solidFill>
              <a:srgbClr val="E0D7C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69080" y="4562856"/>
            <a:ext cx="7452360" cy="475488"/>
          </a:xfrm>
          <a:prstGeom prst="rect">
            <a:avLst/>
          </a:prstGeom>
          <a:solidFill>
            <a:srgbClr val="FFFDF8"/>
          </a:solidFill>
          <a:ln w="8890">
            <a:solidFill>
              <a:srgbClr val="E0D7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4709160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Tudo funciona só depois de clicar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4142232" y="4709160"/>
            <a:ext cx="7306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chame atualizarTela() uma vez no fim do arquivo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1005840" y="5806440"/>
            <a:ext cx="10149840" cy="411480"/>
          </a:xfrm>
          <a:prstGeom prst="roundRect">
            <a:avLst>
              <a:gd name="adj" fmla="val 26667"/>
            </a:avLst>
          </a:prstGeom>
          <a:solidFill>
            <a:srgbClr val="EEF7F3"/>
          </a:solidFill>
          <a:ln w="12700">
            <a:solidFill>
              <a:srgbClr val="BBDDC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07008" y="5907024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2F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Dica prática: teste uma mudança pequena por vez. Se digitou dez linhas e quebrou, fica mais difícil descobrir onde.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Missão prática da segunda metade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aluno aplica a mesma lógica no próprio tema.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166360" cy="4389120"/>
          </a:xfrm>
          <a:prstGeom prst="roundRect">
            <a:avLst>
              <a:gd name="adj" fmla="val 2500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08760"/>
            <a:ext cx="4206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mínima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965960"/>
            <a:ext cx="429768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escolha exclusiva com pelo menos 3 opções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duas opções extras com checkbox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resultado calculado ou decidido por if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resumo atualizado na tela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usando change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erro vermelho no Console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5166360" cy="4389120"/>
          </a:xfrm>
          <a:prstGeom prst="roundRect">
            <a:avLst>
              <a:gd name="adj" fmla="val 2500"/>
            </a:avLst>
          </a:prstGeom>
          <a:solidFill>
            <a:srgbClr val="EEF7F3"/>
          </a:solidFill>
          <a:ln w="12700">
            <a:solidFill>
              <a:srgbClr val="BBDD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08760"/>
            <a:ext cx="4206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F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quem terminar antes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1965960"/>
            <a:ext cx="429768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botão Finalizar desabilitado até escolher a opção principal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 de recomendação com base no resultado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uma checkbox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aviso se nenhum item foi escolhido
</a:t>
            </a:r>
            <a:endParaRPr lang="en-US" sz="1120" dirty="0"/>
          </a:p>
          <a:p>
            <a:r>
              <a:rPr lang="en-US" sz="11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melhorar o resumo com frases completas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629400" y="4315968"/>
            <a:ext cx="4297680" cy="896112"/>
          </a:xfrm>
          <a:prstGeom prst="roundRect">
            <a:avLst>
              <a:gd name="adj" fmla="val 12245"/>
            </a:avLst>
          </a:prstGeom>
          <a:solidFill>
            <a:srgbClr val="EEF1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4407408"/>
            <a:ext cx="4078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(resultado &gt;= 50)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textoAviso.textContent = 'Opção avançada';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textoAviso.textContent = 'Opção básica';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precisa sair funcionando hoje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é decorar JavaScript. É criar uma regra funcionando no próprio projeto.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32720" cy="960120"/>
          </a:xfrm>
          <a:prstGeom prst="roundRect">
            <a:avLst>
              <a:gd name="adj" fmla="val 11429"/>
            </a:avLst>
          </a:prstGeom>
          <a:solidFill>
            <a:srgbClr val="EEF4FF"/>
          </a:solidFill>
          <a:ln w="12700">
            <a:solidFill>
              <a:srgbClr val="C8D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1517904"/>
            <a:ext cx="98298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 final do Dia 2, cada projeto deve ler escolhas do usuário, calcular ou decidir um resultado e atualizar a página sozinho.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final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3063240"/>
            <a:ext cx="987552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 explicar a diferença entre id, value e checked
</a:t>
            </a:r>
            <a:endParaRPr lang="en-US" sz="1220" dirty="0"/>
          </a:p>
          <a:p>
            <a:r>
              <a:rPr lang="en-US" sz="12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 usar change em radio e checkbox
</a:t>
            </a:r>
            <a:endParaRPr lang="en-US" sz="1220" dirty="0"/>
          </a:p>
          <a:p>
            <a:r>
              <a:rPr lang="en-US" sz="12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 usar if e else if para escolha exclusiva
</a:t>
            </a:r>
            <a:endParaRPr lang="en-US" sz="1220" dirty="0"/>
          </a:p>
          <a:p>
            <a:r>
              <a:rPr lang="en-US" sz="12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 usar vários if para extras independentes
</a:t>
            </a:r>
            <a:endParaRPr lang="en-US" sz="1220" dirty="0"/>
          </a:p>
          <a:p>
            <a:r>
              <a:rPr lang="en-US" sz="12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 calcular um resultado com let
</a:t>
            </a:r>
            <a:endParaRPr lang="en-US" sz="1220" dirty="0"/>
          </a:p>
          <a:p>
            <a:r>
              <a:rPr lang="en-US" sz="12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 mostrar o resultado com textContent
</a:t>
            </a:r>
            <a:endParaRPr lang="en-US" sz="1220" dirty="0"/>
          </a:p>
          <a:p>
            <a:r>
              <a:rPr lang="en-US" sz="1220" dirty="0">
                <a:solidFill>
                  <a:srgbClr val="25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 usar o Console para investigar erro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914400" y="5577840"/>
            <a:ext cx="10332720" cy="54864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12700">
            <a:solidFill>
              <a:srgbClr val="E0D7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5733288"/>
            <a:ext cx="99212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2F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Amanhã: transformar a página em algo instalável, com manifest, ícone e visual de aplicativo.</a:t>
            </a:r>
            <a:endParaRPr lang="en-US" sz="12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5A4B3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2 - Ler escolhas e calcular</dc:title>
  <dc:subject>UC08 Dia 2 JavaScript para PWA</dc:subject>
  <dc:creator>Lucas</dc:creator>
  <cp:lastModifiedBy>Lucas</cp:lastModifiedBy>
  <cp:revision>1</cp:revision>
  <dcterms:created xsi:type="dcterms:W3CDTF">2026-07-21T09:30:03Z</dcterms:created>
  <dcterms:modified xsi:type="dcterms:W3CDTF">2026-07-21T09:30:03Z</dcterms:modified>
</cp:coreProperties>
</file>